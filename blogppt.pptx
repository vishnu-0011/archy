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28" r:id="rId1"/>
  </p:sldMasterIdLst>
  <p:sldIdLst>
    <p:sldId id="256" r:id="rId2"/>
    <p:sldId id="258" r:id="rId3"/>
    <p:sldId id="269" r:id="rId4"/>
    <p:sldId id="259" r:id="rId5"/>
    <p:sldId id="276" r:id="rId6"/>
    <p:sldId id="277" r:id="rId7"/>
    <p:sldId id="260" r:id="rId8"/>
    <p:sldId id="262" r:id="rId9"/>
    <p:sldId id="263" r:id="rId10"/>
    <p:sldId id="264" r:id="rId11"/>
    <p:sldId id="265" r:id="rId12"/>
    <p:sldId id="273" r:id="rId13"/>
    <p:sldId id="278" r:id="rId14"/>
    <p:sldId id="280" r:id="rId15"/>
    <p:sldId id="266" r:id="rId16"/>
    <p:sldId id="274" r:id="rId17"/>
    <p:sldId id="267" r:id="rId18"/>
  </p:sldIdLst>
  <p:sldSz cx="18288000" cy="10287000"/>
  <p:notesSz cx="6858000" cy="9144000"/>
  <p:embeddedFontLs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Times New Roman Bold" panose="02020803070505020304" pitchFamily="18" charset="0"/>
      <p:regular r:id="rId21"/>
      <p:bold r:id="rId22"/>
    </p:embeddedFont>
    <p:embeddedFont>
      <p:font typeface="Trebuchet MS" panose="020B0603020202020204" pitchFamily="34" charset="0"/>
      <p:regular r:id="rId23"/>
      <p:bold r:id="rId24"/>
      <p:italic r:id="rId25"/>
      <p:boldItalic r:id="rId26"/>
    </p:embeddedFont>
    <p:embeddedFont>
      <p:font typeface="Wingdings 3" pitchFamily="18" charset="2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8927"/>
    <a:srgbClr val="9FC9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85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5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3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57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7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3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8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0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1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5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4488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80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4539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99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58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0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27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6" name="Freeform 6"/>
          <p:cNvSpPr/>
          <p:nvPr/>
        </p:nvSpPr>
        <p:spPr>
          <a:xfrm>
            <a:off x="8258175" y="3528060"/>
            <a:ext cx="38100" cy="35242"/>
          </a:xfrm>
          <a:custGeom>
            <a:avLst/>
            <a:gdLst/>
            <a:ahLst/>
            <a:cxnLst/>
            <a:rect l="l" t="t" r="r" b="b"/>
            <a:pathLst>
              <a:path w="38100" h="35242">
                <a:moveTo>
                  <a:pt x="0" y="0"/>
                </a:moveTo>
                <a:lnTo>
                  <a:pt x="38100" y="0"/>
                </a:lnTo>
                <a:lnTo>
                  <a:pt x="38100" y="35242"/>
                </a:lnTo>
                <a:lnTo>
                  <a:pt x="0" y="35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42137" y="4270155"/>
            <a:ext cx="7459209" cy="1238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SUPERVISED BY :</a:t>
            </a:r>
          </a:p>
          <a:p>
            <a:pPr>
              <a:lnSpc>
                <a:spcPts val="4200"/>
              </a:lnSpc>
            </a:pPr>
            <a:r>
              <a:rPr lang="en-US" sz="3200" dirty="0">
                <a:solidFill>
                  <a:srgbClr val="000000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Mrs. </a:t>
            </a:r>
            <a:r>
              <a:rPr lang="en-US" sz="3200" dirty="0" err="1">
                <a:solidFill>
                  <a:srgbClr val="000000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HemaPrabha</a:t>
            </a:r>
            <a:r>
              <a:rPr lang="en-US" sz="3200" dirty="0">
                <a:solidFill>
                  <a:srgbClr val="000000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  AP/CSE , SIET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77600" y="3906751"/>
            <a:ext cx="3611432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b="1" dirty="0">
                <a:latin typeface="Times New Roman"/>
                <a:ea typeface="Times New Roman"/>
                <a:cs typeface="Times New Roman"/>
                <a:sym typeface="Times New Roman"/>
              </a:rPr>
              <a:t>TEAM No: A23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42137" y="5744905"/>
            <a:ext cx="6714710" cy="596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1268" y="9430512"/>
            <a:ext cx="4857332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42137" y="6577171"/>
            <a:ext cx="7897262" cy="4343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Dinesh J						-   (714023104022)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Dinesh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kumar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				-   (714023104023)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Hamanth k						-   (714023104032)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Kathir S							-   (714023104046)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ct val="150000"/>
              </a:lnSpc>
            </a:pP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57400" y="2311290"/>
            <a:ext cx="143256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CONTENT AND PUBLISHING SYSTEM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4" name="TextBox 14"/>
          <p:cNvSpPr txBox="1"/>
          <p:nvPr/>
        </p:nvSpPr>
        <p:spPr>
          <a:xfrm>
            <a:off x="11005901" y="8978372"/>
            <a:ext cx="3707377" cy="497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360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Date:28</a:t>
            </a:r>
            <a:r>
              <a:rPr lang="en-US" sz="3600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/4/2026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86774D-3F92-6708-6502-DE7998E11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" r="16834"/>
          <a:stretch>
            <a:fillRect/>
          </a:stretch>
        </p:blipFill>
        <p:spPr>
          <a:xfrm>
            <a:off x="285135" y="17392"/>
            <a:ext cx="17983200" cy="23354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816E1E-EE2B-3B3D-A517-050B59D868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60"/>
          <a:stretch>
            <a:fillRect/>
          </a:stretch>
        </p:blipFill>
        <p:spPr>
          <a:xfrm>
            <a:off x="285135" y="190500"/>
            <a:ext cx="2596099" cy="1929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7" name="TextBox 7"/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5678" y="800100"/>
            <a:ext cx="1816522" cy="34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42665" y="342195"/>
            <a:ext cx="4285183" cy="949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0F0E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35184" y="9415462"/>
            <a:ext cx="4623416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1" y="2437678"/>
            <a:ext cx="14173200" cy="5820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blogging platform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intelligent content creation.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content suggestions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advanced LLMs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Mixtral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 optimization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visibility and search ranking.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data-driven decision making.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platform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writing, design and publishing.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JWT and role-based access control.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quality, productivity, and user experience.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extensible system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AI enhancements.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7E060-0339-C14A-BA3A-5E25D4E0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F374DC-992F-D1FA-9703-25C7157912DB}"/>
              </a:ext>
            </a:extLst>
          </p:cNvPr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F85B1F2-13CE-B228-0479-3FB0C89F3D7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9E8313-B2A0-3A25-F848-3E14E439AD88}"/>
                </a:ext>
              </a:extLst>
            </p:cNvPr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2F2F286D-0EF7-D98C-4A5E-872D9F7B5893}"/>
              </a:ext>
            </a:extLst>
          </p:cNvPr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48B8DFA-4093-E962-A27E-4F6D510ED01F}"/>
              </a:ext>
            </a:extLst>
          </p:cNvPr>
          <p:cNvSpPr txBox="1"/>
          <p:nvPr/>
        </p:nvSpPr>
        <p:spPr>
          <a:xfrm>
            <a:off x="382191" y="800100"/>
            <a:ext cx="2132409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88865F7-8F60-D171-267E-241796DE789A}"/>
              </a:ext>
            </a:extLst>
          </p:cNvPr>
          <p:cNvSpPr txBox="1"/>
          <p:nvPr/>
        </p:nvSpPr>
        <p:spPr>
          <a:xfrm>
            <a:off x="6842665" y="342195"/>
            <a:ext cx="4285183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dirty="0">
                <a:solidFill>
                  <a:srgbClr val="0F0E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FC65396-A806-1604-E13C-0310F81BA54E}"/>
              </a:ext>
            </a:extLst>
          </p:cNvPr>
          <p:cNvSpPr txBox="1"/>
          <p:nvPr/>
        </p:nvSpPr>
        <p:spPr>
          <a:xfrm>
            <a:off x="7035184" y="9415462"/>
            <a:ext cx="5004416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201FC4E-6466-1C26-4638-2E11211F86B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0600" y="1684667"/>
            <a:ext cx="14097000" cy="74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platform for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content creation and publishing.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(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Mixtral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assistance.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generation, enhancement, and SEO optimization.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Node.js, React, and MongoDB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scalability.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performance tracking.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studio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 content creation.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(JWT + role-based access).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fragmentation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unified platform.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productivity, content quality, and user experience.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279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5" name="TextBox 5"/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01572" y="295866"/>
            <a:ext cx="5735404" cy="949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32886" y="9415462"/>
            <a:ext cx="4904090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2353" y="952500"/>
            <a:ext cx="238574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733E0542-2323-FDDE-5BAC-E6DE22D97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282526"/>
            <a:ext cx="15011400" cy="74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content creation is growing rapidly in modern platforms.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are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inefficient.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tools create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fragmented workflows and delays.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feedback reduces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quality and reach.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and NLP enable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content generation and optimization.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SmartBlog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writing, SEO, analytics, and publishing.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unified, scalable, and intelligent content platform.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productivity, efficiency, and user experience.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01990-D162-25F6-512F-F816A160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E08C3C-B2C6-E975-3644-18A955C8D1CC}"/>
              </a:ext>
            </a:extLst>
          </p:cNvPr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FE742C3-C0C2-C9F4-BD3E-A23F4FBCD7A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B3ED31-62BD-B86A-4DB6-14ECE8523171}"/>
                </a:ext>
              </a:extLst>
            </p:cNvPr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057402B-77C7-2FDC-EE7C-C2D019582E24}"/>
              </a:ext>
            </a:extLst>
          </p:cNvPr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2541A67-4F36-1A0A-8DFB-BB662F4148DE}"/>
              </a:ext>
            </a:extLst>
          </p:cNvPr>
          <p:cNvSpPr txBox="1"/>
          <p:nvPr/>
        </p:nvSpPr>
        <p:spPr>
          <a:xfrm>
            <a:off x="5867400" y="803944"/>
            <a:ext cx="807720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SURVEY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128BB5B-3DF4-5425-CD57-7485A26C32CB}"/>
              </a:ext>
            </a:extLst>
          </p:cNvPr>
          <p:cNvSpPr txBox="1"/>
          <p:nvPr/>
        </p:nvSpPr>
        <p:spPr>
          <a:xfrm>
            <a:off x="6932886" y="9415462"/>
            <a:ext cx="5030514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1E4132E-F67B-1859-41EA-3151803BAC05}"/>
              </a:ext>
            </a:extLst>
          </p:cNvPr>
          <p:cNvSpPr txBox="1"/>
          <p:nvPr/>
        </p:nvSpPr>
        <p:spPr>
          <a:xfrm>
            <a:off x="522352" y="952500"/>
            <a:ext cx="2297047" cy="360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438582B-BCCD-4B52-E980-8B1D33EFB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419226"/>
              </p:ext>
            </p:extLst>
          </p:nvPr>
        </p:nvGraphicFramePr>
        <p:xfrm>
          <a:off x="1981200" y="3098482"/>
          <a:ext cx="12192000" cy="4743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70272184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8287969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0939982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9018719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47055031"/>
                    </a:ext>
                  </a:extLst>
                </a:gridCol>
              </a:tblGrid>
              <a:tr h="910084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IN" sz="24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</a:t>
                      </a:r>
                      <a:r>
                        <a:rPr lang="en-IN" sz="24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OLOGY  USED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577400"/>
                  </a:ext>
                </a:extLst>
              </a:tr>
              <a:tr h="3508963"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2800" dirty="0"/>
                        <a:t>Brown, T., Mann, B., Ryder, N., et al.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Language Models are Few-Shot Learners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 Architecture, GPT-based Large Language Models, Deep Learning, NLP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 model accuracy, reduce computational cost, enhance explainability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52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44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6C9BA-039B-41B1-3FD8-B65F76BC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01965A-E29A-4788-6789-3559EB51C326}"/>
              </a:ext>
            </a:extLst>
          </p:cNvPr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223609A-CBB3-B1BB-8DB5-C2944303FD6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2986101-142B-A576-F46E-FB6104D6E2AD}"/>
                </a:ext>
              </a:extLst>
            </p:cNvPr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A1FD7236-6745-CD75-11B1-027284C0AFA9}"/>
              </a:ext>
            </a:extLst>
          </p:cNvPr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6439109-D151-FD25-B5EB-EBFACF1E8B45}"/>
              </a:ext>
            </a:extLst>
          </p:cNvPr>
          <p:cNvSpPr txBox="1"/>
          <p:nvPr/>
        </p:nvSpPr>
        <p:spPr>
          <a:xfrm>
            <a:off x="5867400" y="803944"/>
            <a:ext cx="807720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SURVEY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B297B24-95CD-585C-F184-5D85E7363819}"/>
              </a:ext>
            </a:extLst>
          </p:cNvPr>
          <p:cNvSpPr txBox="1"/>
          <p:nvPr/>
        </p:nvSpPr>
        <p:spPr>
          <a:xfrm>
            <a:off x="6932886" y="9415462"/>
            <a:ext cx="5030514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FFCFF5B-C2BA-0412-60CE-0485D1258056}"/>
              </a:ext>
            </a:extLst>
          </p:cNvPr>
          <p:cNvSpPr txBox="1"/>
          <p:nvPr/>
        </p:nvSpPr>
        <p:spPr>
          <a:xfrm>
            <a:off x="800673" y="952499"/>
            <a:ext cx="1713927" cy="34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5D30EEF-97DA-2D8E-447D-C70B5D143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92774"/>
              </p:ext>
            </p:extLst>
          </p:nvPr>
        </p:nvGraphicFramePr>
        <p:xfrm>
          <a:off x="1752600" y="3125724"/>
          <a:ext cx="12192000" cy="492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70272184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8287969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0939982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9018719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47055031"/>
                    </a:ext>
                  </a:extLst>
                </a:gridCol>
              </a:tblGrid>
              <a:tr h="957163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IN" sz="24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</a:t>
                      </a:r>
                      <a:r>
                        <a:rPr lang="en-IN" sz="24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IN" sz="2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OLOGY  USED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577400"/>
                  </a:ext>
                </a:extLst>
              </a:tr>
              <a:tr h="3690484"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 err="1"/>
                        <a:t>Touvron</a:t>
                      </a:r>
                      <a:r>
                        <a:rPr lang="fr-FR" sz="2800" dirty="0"/>
                        <a:t>, H., </a:t>
                      </a:r>
                      <a:r>
                        <a:rPr lang="fr-FR" sz="2800" dirty="0" err="1"/>
                        <a:t>Lavril</a:t>
                      </a:r>
                      <a:r>
                        <a:rPr lang="fr-FR" sz="2800" dirty="0"/>
                        <a:t>, T., </a:t>
                      </a:r>
                      <a:r>
                        <a:rPr lang="fr-FR" sz="2800" dirty="0" err="1"/>
                        <a:t>Izacard</a:t>
                      </a:r>
                      <a:r>
                        <a:rPr lang="fr-FR" sz="2800" dirty="0"/>
                        <a:t>, G., et al.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0" dirty="0" err="1"/>
                        <a:t>LLaMA</a:t>
                      </a:r>
                      <a:r>
                        <a:rPr lang="en-US" i="1" dirty="0"/>
                        <a:t>: Open and </a:t>
                      </a:r>
                      <a:r>
                        <a:rPr lang="en-US" i="0" dirty="0"/>
                        <a:t>Efficient</a:t>
                      </a:r>
                      <a:r>
                        <a:rPr lang="en-US" i="1" dirty="0"/>
                        <a:t> </a:t>
                      </a:r>
                      <a:r>
                        <a:rPr lang="en-US" i="0" dirty="0"/>
                        <a:t>Foundation</a:t>
                      </a:r>
                      <a:r>
                        <a:rPr lang="en-US" i="1" dirty="0"/>
                        <a:t> </a:t>
                      </a:r>
                      <a:r>
                        <a:rPr lang="en-US" i="0" dirty="0"/>
                        <a:t>Language</a:t>
                      </a:r>
                      <a:r>
                        <a:rPr lang="en-US" i="1" dirty="0"/>
                        <a:t> </a:t>
                      </a:r>
                      <a:r>
                        <a:rPr lang="en-US" i="0" dirty="0"/>
                        <a:t>Models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LLaMA</a:t>
                      </a:r>
                      <a:r>
                        <a:rPr lang="en-IN" dirty="0"/>
                        <a:t> Architecture, Transformer Models,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Optimize model efficiency, improve multilingual support, reduce bias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52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95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9521761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4" name="TextBox 4"/>
          <p:cNvSpPr txBox="1"/>
          <p:nvPr/>
        </p:nvSpPr>
        <p:spPr>
          <a:xfrm>
            <a:off x="6932886" y="9415462"/>
            <a:ext cx="4878114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0673" y="776691"/>
            <a:ext cx="1829476" cy="3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605661" y="454061"/>
            <a:ext cx="6086237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SYSTEM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B2204C6B-5840-2596-50C5-AC663D0CCA9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0600" y="2401904"/>
            <a:ext cx="165354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disconnected tools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writing, SEO, and analytics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real-time AI assistance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content improvement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SEO optimization is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and time-consuming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analytics and performance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Fragmented workflow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productivity and efficiency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9399908"/>
            <a:ext cx="18288000" cy="887092"/>
            <a:chOff x="0" y="0"/>
            <a:chExt cx="18288000" cy="887095"/>
          </a:xfrm>
          <a:solidFill>
            <a:schemeClr val="accent2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887095"/>
            </a:xfrm>
            <a:custGeom>
              <a:avLst/>
              <a:gdLst/>
              <a:ahLst/>
              <a:cxnLst/>
              <a:rect l="l" t="t" r="r" b="b"/>
              <a:pathLst>
                <a:path w="18288000" h="887095">
                  <a:moveTo>
                    <a:pt x="0" y="0"/>
                  </a:moveTo>
                  <a:lnTo>
                    <a:pt x="0" y="887095"/>
                  </a:lnTo>
                  <a:lnTo>
                    <a:pt x="18288000" y="887095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5" name="TextBox 5"/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28690" y="534562"/>
            <a:ext cx="8180264" cy="88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PROPOSED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29999" y="9359170"/>
            <a:ext cx="4809601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0556" y="876299"/>
            <a:ext cx="238574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43001" y="2112261"/>
            <a:ext cx="15657868" cy="6254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blogging platform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real-time content generation and title suggestions 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studio (like Canva)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creating visually rich blog content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SEO checker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instant optimization and better search visibility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publishing to LinkedIn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from the platform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6299"/>
              </a:lnSpc>
              <a:spcBef>
                <a:spcPct val="0"/>
              </a:spcBef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8" name="TextBox 8"/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09215" y="9415462"/>
            <a:ext cx="4677985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7357" y="952500"/>
            <a:ext cx="2454716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275380" y="521525"/>
            <a:ext cx="545942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D1952F-8879-609E-42A6-679682DA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131" y="1313176"/>
            <a:ext cx="8034875" cy="79856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02956" y="952500"/>
            <a:ext cx="238574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534209" y="4746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9425120"/>
            <a:ext cx="18288000" cy="887092"/>
            <a:chOff x="0" y="0"/>
            <a:chExt cx="18288000" cy="887095"/>
          </a:xfrm>
          <a:solidFill>
            <a:schemeClr val="accent2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8288000" cy="887095"/>
            </a:xfrm>
            <a:custGeom>
              <a:avLst/>
              <a:gdLst/>
              <a:ahLst/>
              <a:cxnLst/>
              <a:rect l="l" t="t" r="r" b="b"/>
              <a:pathLst>
                <a:path w="18288000" h="887095">
                  <a:moveTo>
                    <a:pt x="0" y="0"/>
                  </a:moveTo>
                  <a:lnTo>
                    <a:pt x="0" y="887095"/>
                  </a:lnTo>
                  <a:lnTo>
                    <a:pt x="18288000" y="887095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8" name="TextBox 8"/>
          <p:cNvSpPr txBox="1"/>
          <p:nvPr/>
        </p:nvSpPr>
        <p:spPr>
          <a:xfrm>
            <a:off x="6993021" y="9464439"/>
            <a:ext cx="4513179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39655" y="1193759"/>
            <a:ext cx="1829476" cy="727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12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E-SAMPARK PORTAL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02265" y="734971"/>
            <a:ext cx="7261622" cy="94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45166" y="2487539"/>
            <a:ext cx="16605528" cy="3137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>
              <a:lnSpc>
                <a:spcPts val="6299"/>
              </a:lnSpc>
              <a:buFont typeface="Arial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Frontend/UI: ReactJS, Tailwind CSS</a:t>
            </a:r>
          </a:p>
          <a:p>
            <a:pPr marL="971550" lvl="1" indent="-485775">
              <a:lnSpc>
                <a:spcPts val="6299"/>
              </a:lnSpc>
              <a:buFont typeface="Arial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(Express.js)</a:t>
            </a:r>
          </a:p>
          <a:p>
            <a:pPr marL="971550" lvl="1" indent="-485775">
              <a:lnSpc>
                <a:spcPts val="6299"/>
              </a:lnSpc>
              <a:buFont typeface="Arial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</a:t>
            </a:r>
          </a:p>
          <a:p>
            <a:pPr marL="971550" lvl="1" indent="-485775">
              <a:lnSpc>
                <a:spcPts val="6299"/>
              </a:lnSpc>
              <a:buFont typeface="Arial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Management: React Hooks / Context API</a:t>
            </a: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02955" y="1028699"/>
            <a:ext cx="2313399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534209" y="4746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34413" y="9465047"/>
            <a:ext cx="18288000" cy="887092"/>
            <a:chOff x="0" y="0"/>
            <a:chExt cx="18288000" cy="887095"/>
          </a:xfrm>
          <a:solidFill>
            <a:schemeClr val="accent2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8288000" cy="887095"/>
            </a:xfrm>
            <a:custGeom>
              <a:avLst/>
              <a:gdLst/>
              <a:ahLst/>
              <a:cxnLst/>
              <a:rect l="l" t="t" r="r" b="b"/>
              <a:pathLst>
                <a:path w="18288000" h="887095">
                  <a:moveTo>
                    <a:pt x="0" y="0"/>
                  </a:moveTo>
                  <a:lnTo>
                    <a:pt x="0" y="887095"/>
                  </a:lnTo>
                  <a:lnTo>
                    <a:pt x="18288000" y="887095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9" name="TextBox 9"/>
          <p:cNvSpPr txBox="1"/>
          <p:nvPr/>
        </p:nvSpPr>
        <p:spPr>
          <a:xfrm>
            <a:off x="4839655" y="1193759"/>
            <a:ext cx="1829476" cy="727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12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E-SAMPARK PORTAL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686609" y="6270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553200" y="9465047"/>
            <a:ext cx="4648200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67964" y="734971"/>
            <a:ext cx="691463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 &amp;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6800" y="2232550"/>
            <a:ext cx="14173199" cy="6548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shows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real-time AI suggestions.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module improves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quality and readability.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 engine provides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optimization recommendations.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 enables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is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responsive, simple, and easy to use.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handles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efficiently (scalable).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ensures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access and data protection.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workflow reduces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effort significantly.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51EE-F8C5-006D-718B-B4D6092B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CCD6576E-0149-A508-0181-601B9933D639}"/>
              </a:ext>
            </a:extLst>
          </p:cNvPr>
          <p:cNvSpPr txBox="1"/>
          <p:nvPr/>
        </p:nvSpPr>
        <p:spPr>
          <a:xfrm>
            <a:off x="602956" y="1028699"/>
            <a:ext cx="238574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B6FA160-789D-4BC6-9DA0-EB9477CC9BE9}"/>
              </a:ext>
            </a:extLst>
          </p:cNvPr>
          <p:cNvSpPr/>
          <p:nvPr/>
        </p:nvSpPr>
        <p:spPr>
          <a:xfrm>
            <a:off x="16534209" y="4746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FF46AE3-1D35-3AAB-6F10-F57ED70A7945}"/>
              </a:ext>
            </a:extLst>
          </p:cNvPr>
          <p:cNvGrpSpPr>
            <a:grpSpLocks noChangeAspect="1"/>
          </p:cNvGrpSpPr>
          <p:nvPr/>
        </p:nvGrpSpPr>
        <p:grpSpPr>
          <a:xfrm>
            <a:off x="-34413" y="9465047"/>
            <a:ext cx="18288000" cy="887092"/>
            <a:chOff x="0" y="0"/>
            <a:chExt cx="18288000" cy="887095"/>
          </a:xfrm>
          <a:solidFill>
            <a:schemeClr val="accent2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6547403-D032-C20F-1349-344F066EEC8B}"/>
                </a:ext>
              </a:extLst>
            </p:cNvPr>
            <p:cNvSpPr/>
            <p:nvPr/>
          </p:nvSpPr>
          <p:spPr>
            <a:xfrm>
              <a:off x="0" y="0"/>
              <a:ext cx="18288000" cy="887095"/>
            </a:xfrm>
            <a:custGeom>
              <a:avLst/>
              <a:gdLst/>
              <a:ahLst/>
              <a:cxnLst/>
              <a:rect l="l" t="t" r="r" b="b"/>
              <a:pathLst>
                <a:path w="18288000" h="887095">
                  <a:moveTo>
                    <a:pt x="0" y="0"/>
                  </a:moveTo>
                  <a:lnTo>
                    <a:pt x="0" y="887095"/>
                  </a:lnTo>
                  <a:lnTo>
                    <a:pt x="18288000" y="887095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11AD6D5-61D2-C3BB-260C-AA78F00E6B53}"/>
              </a:ext>
            </a:extLst>
          </p:cNvPr>
          <p:cNvSpPr txBox="1"/>
          <p:nvPr/>
        </p:nvSpPr>
        <p:spPr>
          <a:xfrm>
            <a:off x="4839655" y="1193759"/>
            <a:ext cx="1829476" cy="727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12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E-SAMPARK PORTAL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1E76398-F650-5DDC-C9F6-7EFE2DBE22CC}"/>
              </a:ext>
            </a:extLst>
          </p:cNvPr>
          <p:cNvSpPr/>
          <p:nvPr/>
        </p:nvSpPr>
        <p:spPr>
          <a:xfrm>
            <a:off x="16686609" y="6270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F8D471D-53EF-C2BE-ECAE-23224B0898E5}"/>
              </a:ext>
            </a:extLst>
          </p:cNvPr>
          <p:cNvSpPr txBox="1"/>
          <p:nvPr/>
        </p:nvSpPr>
        <p:spPr>
          <a:xfrm>
            <a:off x="6553200" y="9465047"/>
            <a:ext cx="4648200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802726F-4A61-754F-42DF-ECABDC1AD327}"/>
              </a:ext>
            </a:extLst>
          </p:cNvPr>
          <p:cNvSpPr txBox="1"/>
          <p:nvPr/>
        </p:nvSpPr>
        <p:spPr>
          <a:xfrm>
            <a:off x="5941604" y="649837"/>
            <a:ext cx="691463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6DEF9FC-B526-DEC9-D8E7-70FD0C47800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4400" y="2183816"/>
            <a:ext cx="15163800" cy="6640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Blog provides an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solution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modern content creation.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writing, SEO, analytics and publishing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platform.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productivity, content quality and user experience.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assistance enables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smarter content development.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ensures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and future growth.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tools and manual processes.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analytics.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future-ready intelligent blogging system.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188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366786-2BB7-E23C-C003-AD20DCAA5679}"/>
              </a:ext>
            </a:extLst>
          </p:cNvPr>
          <p:cNvSpPr txBox="1"/>
          <p:nvPr/>
        </p:nvSpPr>
        <p:spPr>
          <a:xfrm>
            <a:off x="0" y="876300"/>
            <a:ext cx="2454716" cy="453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3215B2C2-DD95-A379-A37B-27A25942A52C}"/>
              </a:ext>
            </a:extLst>
          </p:cNvPr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690F3884-5097-11E2-FCC8-1EE21664113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9543336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12716A2F-8814-9216-A7BB-B9DDDB59A3B7}"/>
                </a:ext>
              </a:extLst>
            </p:cNvPr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70CDCA-4435-4918-029B-295B57DD4CB1}"/>
              </a:ext>
            </a:extLst>
          </p:cNvPr>
          <p:cNvSpPr txBox="1"/>
          <p:nvPr/>
        </p:nvSpPr>
        <p:spPr>
          <a:xfrm>
            <a:off x="6705600" y="9543336"/>
            <a:ext cx="5105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  <a:p>
            <a:endParaRPr lang="en-IN" sz="8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EE36CF-5722-2973-F904-646D62E80B2C}"/>
              </a:ext>
            </a:extLst>
          </p:cNvPr>
          <p:cNvSpPr txBox="1"/>
          <p:nvPr/>
        </p:nvSpPr>
        <p:spPr>
          <a:xfrm>
            <a:off x="5562600" y="639104"/>
            <a:ext cx="5410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452AB8-D5F6-D1F7-7927-D3C3907D6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856" y="1838114"/>
            <a:ext cx="11951688" cy="646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68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EFEB10-646A-04C9-F744-7164C64A9EFA}"/>
              </a:ext>
            </a:extLst>
          </p:cNvPr>
          <p:cNvSpPr txBox="1"/>
          <p:nvPr/>
        </p:nvSpPr>
        <p:spPr>
          <a:xfrm>
            <a:off x="-152400" y="876300"/>
            <a:ext cx="2743199" cy="453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F8C45AD3-4BB6-3617-F503-F3E782E2A1AF}"/>
              </a:ext>
            </a:extLst>
          </p:cNvPr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527DC425-8885-18FD-AE26-35361004BBF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9543336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B852135E-4C14-968D-6F6E-72F082AEE649}"/>
                </a:ext>
              </a:extLst>
            </p:cNvPr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43E8403-602C-A355-463C-621758442756}"/>
              </a:ext>
            </a:extLst>
          </p:cNvPr>
          <p:cNvSpPr txBox="1"/>
          <p:nvPr/>
        </p:nvSpPr>
        <p:spPr>
          <a:xfrm>
            <a:off x="6705600" y="9543336"/>
            <a:ext cx="5105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  <a:p>
            <a:endParaRPr lang="en-IN" sz="8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E78B32-1DC3-E4CB-C000-77A741E14740}"/>
              </a:ext>
            </a:extLst>
          </p:cNvPr>
          <p:cNvSpPr txBox="1"/>
          <p:nvPr/>
        </p:nvSpPr>
        <p:spPr>
          <a:xfrm>
            <a:off x="5562600" y="639104"/>
            <a:ext cx="5410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F04BEC-5062-1059-6145-F6077F80F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1996851"/>
            <a:ext cx="9372600" cy="55474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3D5CF5-D61F-4382-2E7A-8B1DE6CA8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639" y="1996850"/>
            <a:ext cx="8506170" cy="588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76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7" name="TextBox 7"/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9215" y="9415462"/>
            <a:ext cx="4754185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7358" y="936625"/>
            <a:ext cx="2323442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46484" y="1987462"/>
            <a:ext cx="13664918" cy="7379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Frost, B. &amp; Storm, J. (2017), “Atomic Design Methodology for Scalable Design Systems,” UX Design Conference Proceedings, ISSN: N/A, 2017.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Gallagher, S. &amp; Leung, K. (2012), “Content Management Systems: Evolution and Architecture,” International Journal of Information Systems, Vol. 8, No. 2, ISSN: N/A, 2012.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German, D., Hassan, A. &amp; Mockus, A. (2013), “The Evolution of Open-Source Software Ecosystems,” IEEE Software, Vol. 30, No. 4, ISSN: 0740-7459, 2013.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48954" y="936625"/>
            <a:ext cx="5751616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REFERENCES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663D-0C14-B22D-D42B-9868AA88F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4E190C-09E4-1128-25B6-92EF20DA28AB}"/>
              </a:ext>
            </a:extLst>
          </p:cNvPr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A410B72-675A-E802-3403-08A16BF4820F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6CF3CA4-FC31-3836-CBC2-FFABAF001FB2}"/>
                </a:ext>
              </a:extLst>
            </p:cNvPr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ECFE2B65-34BB-5862-D785-CA6D14213617}"/>
              </a:ext>
            </a:extLst>
          </p:cNvPr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FDEDDAA-0640-5C2E-D796-3B6CFA1F1E0F}"/>
              </a:ext>
            </a:extLst>
          </p:cNvPr>
          <p:cNvSpPr txBox="1"/>
          <p:nvPr/>
        </p:nvSpPr>
        <p:spPr>
          <a:xfrm>
            <a:off x="7209215" y="9415462"/>
            <a:ext cx="4754185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4B417F2-68FD-6BDF-02CD-D6DB10CFBAFF}"/>
              </a:ext>
            </a:extLst>
          </p:cNvPr>
          <p:cNvSpPr txBox="1"/>
          <p:nvPr/>
        </p:nvSpPr>
        <p:spPr>
          <a:xfrm>
            <a:off x="264816" y="933450"/>
            <a:ext cx="2454716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58C9359-5B24-C545-4637-D6766B978AD1}"/>
              </a:ext>
            </a:extLst>
          </p:cNvPr>
          <p:cNvSpPr txBox="1"/>
          <p:nvPr/>
        </p:nvSpPr>
        <p:spPr>
          <a:xfrm>
            <a:off x="1143000" y="2400300"/>
            <a:ext cx="14096999" cy="832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Backlinko (2023), “Search Engine Ranking Correlation Study,”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Backlinko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Reports, ISSN: N/A, 2023.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Brown, T., Mann, B., Ryder, N., et al. (2020), “Language Models are Few-Shot Learners,” Advances in Neural Information Processing Systems 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Vol. 33, ISSN: N/A, 2020.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Cattell, R. (2011), “Scalable SQL and NoSQL Data Stores,” ACM SIGMOD Record, Vol. 39, No. 4, ISSN: 0163-5808, 2011.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136257F-EE59-CEEA-163E-D5318733F070}"/>
              </a:ext>
            </a:extLst>
          </p:cNvPr>
          <p:cNvSpPr txBox="1"/>
          <p:nvPr/>
        </p:nvSpPr>
        <p:spPr>
          <a:xfrm>
            <a:off x="6348954" y="933450"/>
            <a:ext cx="5751616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REFERENCES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4BD928D-C7FF-3BD0-27EC-5B8659C4D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807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81809" y="322221"/>
            <a:ext cx="1524000" cy="1209675"/>
          </a:xfrm>
          <a:custGeom>
            <a:avLst/>
            <a:gdLst/>
            <a:ahLst/>
            <a:cxnLst/>
            <a:rect l="l" t="t" r="r" b="b"/>
            <a:pathLst>
              <a:path w="1524000" h="1209675">
                <a:moveTo>
                  <a:pt x="0" y="0"/>
                </a:moveTo>
                <a:lnTo>
                  <a:pt x="1524000" y="0"/>
                </a:lnTo>
                <a:lnTo>
                  <a:pt x="15240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9521762"/>
            <a:ext cx="18288000" cy="765238"/>
            <a:chOff x="0" y="0"/>
            <a:chExt cx="18288000" cy="765238"/>
          </a:xfrm>
          <a:solidFill>
            <a:schemeClr val="accent2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765302"/>
            </a:xfrm>
            <a:custGeom>
              <a:avLst/>
              <a:gdLst/>
              <a:ahLst/>
              <a:cxnLst/>
              <a:rect l="l" t="t" r="r" b="b"/>
              <a:pathLst>
                <a:path w="18288000" h="765302">
                  <a:moveTo>
                    <a:pt x="0" y="0"/>
                  </a:moveTo>
                  <a:lnTo>
                    <a:pt x="0" y="765302"/>
                  </a:lnTo>
                  <a:lnTo>
                    <a:pt x="18288000" y="765302"/>
                  </a:lnTo>
                  <a:lnTo>
                    <a:pt x="18288000" y="0"/>
                  </a:lnTo>
                  <a:close/>
                </a:path>
              </a:pathLst>
            </a:custGeom>
            <a:grpFill/>
          </p:spPr>
        </p:sp>
      </p:grpSp>
      <p:sp>
        <p:nvSpPr>
          <p:cNvPr id="7" name="TextBox 7"/>
          <p:cNvSpPr txBox="1"/>
          <p:nvPr/>
        </p:nvSpPr>
        <p:spPr>
          <a:xfrm>
            <a:off x="16824931" y="9573311"/>
            <a:ext cx="11658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39772" y="3714479"/>
            <a:ext cx="12642037" cy="2411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89"/>
              </a:lnSpc>
            </a:pPr>
            <a:r>
              <a:rPr lang="en-US" sz="14635" b="1" dirty="0">
                <a:solidFill>
                  <a:srgbClr val="000000"/>
                </a:solidFill>
                <a:latin typeface="Times New Roman 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09215" y="9415462"/>
            <a:ext cx="4525585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FCFCF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Shakthi.ac.in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7356" y="952499"/>
            <a:ext cx="2454715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BLOG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1737</TotalTime>
  <Words>1075</Words>
  <Application>Microsoft Office PowerPoint</Application>
  <PresentationFormat>Custom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Trebuchet MS</vt:lpstr>
      <vt:lpstr>Times New Roman</vt:lpstr>
      <vt:lpstr>Wingdings 3</vt:lpstr>
      <vt:lpstr>Canva Sans</vt:lpstr>
      <vt:lpstr>Times New Roman Bold</vt:lpstr>
      <vt:lpstr>Arial</vt:lpstr>
      <vt:lpstr>Canva Sans Bold</vt:lpstr>
      <vt:lpstr>Times New Roman 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 5</dc:title>
  <dc:creator>karthikha  shree s.m</dc:creator>
  <cp:lastModifiedBy>Dinesh Kumar</cp:lastModifiedBy>
  <cp:revision>26</cp:revision>
  <dcterms:created xsi:type="dcterms:W3CDTF">2006-08-16T00:00:00Z</dcterms:created>
  <dcterms:modified xsi:type="dcterms:W3CDTF">2026-04-28T04:54:49Z</dcterms:modified>
  <dc:identifier>DAGZkMm4UPA</dc:identifier>
</cp:coreProperties>
</file>